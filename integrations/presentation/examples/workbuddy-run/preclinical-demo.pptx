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2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charts/_rels/chart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201.xlsx"/>
</Relationships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3125"/>
          <c:y val="0.01"/>
          <c:w val="0.920138888889"/>
          <c:h val="0.8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终点均值 mm³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对照</c:v>
                </c:pt>
                <c:pt idx="1">
                  <c:v>低剂量</c:v>
                </c:pt>
                <c:pt idx="2">
                  <c:v>高剂量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507.5</c:v>
                </c:pt>
                <c:pt idx="1">
                  <c:v>460</c:v>
                </c:pt>
                <c:pt idx="2">
                  <c:v>313.75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lang="zh-CN" sz="210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2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lang="zh-CN" sz="21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600"/>
          <c:min val="0"/>
        </c:scaling>
        <c:delete val="1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lang="zh-CN" sz="21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2100">
          <a:solidFill>
            <a:schemeClr val="accent1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合成数据演示</a:t>
            </a:r>
          </a:p>
          <a:p>
            <a:pPr/>
            <a:endParaRPr lang="zh-CN" dirty="0"/>
          </a:p>
          <a:p>
            <a:pPr/>
            <a:r>
              <a:rPr lang="zh-CN" dirty="0"/>
              <a:t>{</a:t>
            </a:r>
          </a:p>
          <a:p>
            <a:pPr/>
            <a:r>
              <a:rPr lang="en-US" dirty="0"/>
              <a:t>"data_kind": "synthetic-preclinical-demo",</a:t>
            </a:r>
          </a:p>
          <a:p>
            <a:pPr/>
            <a:r>
              <a:rPr lang="en-US" dirty="0"/>
              <a:t>"analysis_sha256": "c5fc6732386bd79be3febebecc2afa290bc3e69db62e64d092f728e25f857035",</a:t>
            </a:r>
          </a:p>
          <a:p>
            <a:pPr/>
            <a:r>
              <a:rPr lang="en-US" dirty="0"/>
              <a:t>"source_sha256": {</a:t>
            </a:r>
          </a:p>
          <a:p>
            <a:pPr/>
            <a:r>
              <a:rPr lang="en-US" dirty="0"/>
              <a:t>"efficacy": {</a:t>
            </a:r>
          </a:p>
          <a:p>
            <a:pPr/>
            <a:r>
              <a:rPr lang="en-US" dirty="0"/>
              <a:t>"filename": "efficacy.csv",</a:t>
            </a:r>
          </a:p>
          <a:p>
            <a:pPr/>
            <a:r>
              <a:rPr lang="en-US" dirty="0"/>
              <a:t>"sha256": "e7cd19c3f1e893b1ac0654161b7d593374c386fd1db25fcbdfa7e9ae376ef99b"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"pk": {</a:t>
            </a:r>
          </a:p>
          <a:p>
            <a:pPr/>
            <a:r>
              <a:rPr lang="en-US" dirty="0"/>
              <a:t>"filename": "pk.csv",</a:t>
            </a:r>
          </a:p>
          <a:p>
            <a:pPr/>
            <a:r>
              <a:rPr lang="en-US" dirty="0"/>
              <a:t>"sha256": "35890c2a604ff2650a5e48db5a3d8819a19d3b20db6a8ef84a1219ffed3358fd"</a:t>
            </a:r>
          </a:p>
          <a:p>
            <a:pPr/>
            <a:r>
              <a:rPr lang="zh-CN" dirty="0"/>
              <a:t>}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"analysis_plan": {</a:t>
            </a:r>
          </a:p>
          <a:p>
            <a:pPr/>
            <a:r>
              <a:rPr lang="en-US" dirty="0"/>
              <a:t>"primary_endpoint": "synthetic terminal tumor_volume_mm3",</a:t>
            </a:r>
          </a:p>
          <a:p>
            <a:pPr/>
            <a:r>
              <a:rPr lang="en-US" dirty="0"/>
              <a:t>"contrasts": [</a:t>
            </a:r>
          </a:p>
          <a:p>
            <a:pPr/>
            <a:r>
              <a:rPr lang="en-US" dirty="0"/>
              <a:t>"low-vehicle",</a:t>
            </a:r>
          </a:p>
          <a:p>
            <a:pPr/>
            <a:r>
              <a:rPr lang="en-US" dirty="0"/>
              <a:t>"high-vehicle"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"test": "two-sided independent Welch t-test, prespecified",</a:t>
            </a:r>
          </a:p>
          <a:p>
            <a:pPr/>
            <a:r>
              <a:rPr lang="en-US" dirty="0"/>
              <a:t>"multiplicity": "Holm family-wise correction for the 2 prespecified contrasts",</a:t>
            </a:r>
          </a:p>
          <a:p>
            <a:pPr/>
            <a:r>
              <a:rPr lang="en-US" dirty="0"/>
              <a:t>"ci": "95% pointwise mean-difference intervals; not simultaneous family intervals",</a:t>
            </a:r>
          </a:p>
          <a:p>
            <a:pPr/>
            <a:r>
              <a:rPr lang="en-US" dirty="0"/>
              <a:t>"missing_data": "fail on missing, nonfinite or duplicate records; no deletion/imputation"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"efficacy_limitations": [</a:t>
            </a:r>
          </a:p>
          <a:p>
            <a:pPr/>
            <a:r>
              <a:rPr lang="en-US" dirty="0"/>
              <a:t>"Independence is a declared synthetic design assumption, not a normality-test conclusion.",</a:t>
            </a:r>
          </a:p>
          <a:p>
            <a:pPr/>
            <a:r>
              <a:rPr lang="en-US" dirty="0"/>
              <a:t>"Shapiro p-values are descriptive; non-rejection does not prove normality.",</a:t>
            </a:r>
          </a:p>
          <a:p>
            <a:pPr/>
            <a:r>
              <a:rPr lang="en-US" dirty="0"/>
              <a:t>"Endpoint reduction is not longitudinal tumor-growth inhibition (TGI).",</a:t>
            </a:r>
          </a:p>
          <a:p>
            <a:pPr/>
            <a:r>
              <a:rPr lang="en-US" dirty="0"/>
              <a:t>"Body weight is descriptive tolerability context, not a toxicology/NOAEL assessment.",</a:t>
            </a:r>
          </a:p>
          <a:p>
            <a:pPr/>
            <a:r>
              <a:rPr lang="en-US" dirty="0"/>
              <a:t>"Significance in invented data supplies no evidence about a real compound or disease."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"pk_conventions": {</a:t>
            </a:r>
          </a:p>
          <a:p>
            <a:pPr/>
            <a:r>
              <a:rPr lang="en-US" dirty="0"/>
              <a:t>"time_unit": "h",</a:t>
            </a:r>
          </a:p>
          <a:p>
            <a:pPr/>
            <a:r>
              <a:rPr lang="en-US" dirty="0"/>
              <a:t>"concentration_unit": "mg/L",</a:t>
            </a:r>
          </a:p>
          <a:p>
            <a:pPr/>
            <a:r>
              <a:rPr lang="en-US" dirty="0"/>
              <a:t>"dose_unit": "mg",</a:t>
            </a:r>
          </a:p>
          <a:p>
            <a:pPr/>
            <a:r>
              <a:rPr lang="en-US" dirty="0"/>
              <a:t>"dose_mg": 0.125,</a:t>
            </a:r>
          </a:p>
          <a:p>
            <a:pPr/>
            <a:r>
              <a:rPr lang="en-US" dirty="0"/>
              <a:t>"auc_method": "linear-up/log-down",</a:t>
            </a:r>
          </a:p>
          <a:p>
            <a:pPr/>
            <a:r>
              <a:rPr lang="en-US" dirty="0"/>
              <a:t>"terminal_window_h": [</a:t>
            </a:r>
          </a:p>
          <a:p>
            <a:pPr/>
            <a:r>
              <a:rPr lang="zh-CN" dirty="0"/>
              <a:t>8,</a:t>
            </a:r>
          </a:p>
          <a:p>
            <a:pPr/>
            <a:r>
              <a:rPr lang="zh-CN" dirty="0"/>
              <a:t>24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"blq": "none in fixture; numeric completeness enforced"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"pk_limitations": [</a:t>
            </a:r>
          </a:p>
          <a:p>
            <a:pPr/>
            <a:r>
              <a:rPr lang="en-US" dirty="0"/>
              <a:t>"Separate synthetic PK cohort: no animal-level exposure-response link to the efficacy cohort.",</a:t>
            </a:r>
          </a:p>
          <a:p>
            <a:pPr/>
            <a:r>
              <a:rPr lang="en-US" dirty="0"/>
              <a:t>"Oral clearance and volume are apparent CL/F and V/F; F is not identified.",</a:t>
            </a:r>
          </a:p>
          <a:p>
            <a:pPr/>
            <a:r>
              <a:rPr lang="en-US" dirty="0"/>
              <a:t>"A perfect synthetic terminal fit does not validate a real PK model or sampling design.",</a:t>
            </a:r>
          </a:p>
          <a:p>
            <a:pPr/>
            <a:r>
              <a:rPr lang="en-US" dirty="0"/>
              <a:t>"Dose is illustrative arithmetic; no clinical dose or species safety inference."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"pk_findings": [],</a:t>
            </a:r>
          </a:p>
          <a:p>
            <a:pPr/>
            <a:r>
              <a:rPr lang="en-US" dirty="0"/>
              <a:t>"citation": "K-Dense Scientific Agent Skills; https://doi.org/10.48550/arXiv.2609.00065; see vendored CITATION.cff"</a:t>
            </a:r>
          </a:p>
          <a:p>
            <a:pPr/>
            <a:r>
              <a:rPr lang="zh-CN" dirty="0"/>
              <a:t>}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合成数据演示</a:t>
            </a:r>
          </a:p>
          <a:p>
            <a:pPr/>
            <a:endParaRPr lang="zh-CN" dirty="0"/>
          </a:p>
          <a:p>
            <a:pPr/>
            <a:r>
              <a:rPr lang="zh-CN" dirty="0"/>
              <a:t>{</a:t>
            </a:r>
          </a:p>
          <a:p>
            <a:pPr/>
            <a:r>
              <a:rPr lang="en-US" dirty="0"/>
              <a:t>"data_kind": "synthetic-preclinical-demo",</a:t>
            </a:r>
          </a:p>
          <a:p>
            <a:pPr/>
            <a:r>
              <a:rPr lang="en-US" dirty="0"/>
              <a:t>"analysis_sha256": "c5fc6732386bd79be3febebecc2afa290bc3e69db62e64d092f728e25f857035",</a:t>
            </a:r>
          </a:p>
          <a:p>
            <a:pPr/>
            <a:r>
              <a:rPr lang="en-US" dirty="0"/>
              <a:t>"source_sha256": {</a:t>
            </a:r>
          </a:p>
          <a:p>
            <a:pPr/>
            <a:r>
              <a:rPr lang="en-US" dirty="0"/>
              <a:t>"efficacy": {</a:t>
            </a:r>
          </a:p>
          <a:p>
            <a:pPr/>
            <a:r>
              <a:rPr lang="en-US" dirty="0"/>
              <a:t>"filename": "efficacy.csv",</a:t>
            </a:r>
          </a:p>
          <a:p>
            <a:pPr/>
            <a:r>
              <a:rPr lang="en-US" dirty="0"/>
              <a:t>"sha256": "e7cd19c3f1e893b1ac0654161b7d593374c386fd1db25fcbdfa7e9ae376ef99b"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"pk": {</a:t>
            </a:r>
          </a:p>
          <a:p>
            <a:pPr/>
            <a:r>
              <a:rPr lang="en-US" dirty="0"/>
              <a:t>"filename": "pk.csv",</a:t>
            </a:r>
          </a:p>
          <a:p>
            <a:pPr/>
            <a:r>
              <a:rPr lang="en-US" dirty="0"/>
              <a:t>"sha256": "35890c2a604ff2650a5e48db5a3d8819a19d3b20db6a8ef84a1219ffed3358fd"</a:t>
            </a:r>
          </a:p>
          <a:p>
            <a:pPr/>
            <a:r>
              <a:rPr lang="zh-CN" dirty="0"/>
              <a:t>}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"analysis_plan": {</a:t>
            </a:r>
          </a:p>
          <a:p>
            <a:pPr/>
            <a:r>
              <a:rPr lang="en-US" dirty="0"/>
              <a:t>"primary_endpoint": "synthetic terminal tumor_volume_mm3",</a:t>
            </a:r>
          </a:p>
          <a:p>
            <a:pPr/>
            <a:r>
              <a:rPr lang="en-US" dirty="0"/>
              <a:t>"contrasts": [</a:t>
            </a:r>
          </a:p>
          <a:p>
            <a:pPr/>
            <a:r>
              <a:rPr lang="en-US" dirty="0"/>
              <a:t>"low-vehicle",</a:t>
            </a:r>
          </a:p>
          <a:p>
            <a:pPr/>
            <a:r>
              <a:rPr lang="en-US" dirty="0"/>
              <a:t>"high-vehicle"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"test": "two-sided independent Welch t-test, prespecified",</a:t>
            </a:r>
          </a:p>
          <a:p>
            <a:pPr/>
            <a:r>
              <a:rPr lang="en-US" dirty="0"/>
              <a:t>"multiplicity": "Holm family-wise correction for the 2 prespecified contrasts",</a:t>
            </a:r>
          </a:p>
          <a:p>
            <a:pPr/>
            <a:r>
              <a:rPr lang="en-US" dirty="0"/>
              <a:t>"ci": "95% pointwise mean-difference intervals; not simultaneous family intervals",</a:t>
            </a:r>
          </a:p>
          <a:p>
            <a:pPr/>
            <a:r>
              <a:rPr lang="en-US" dirty="0"/>
              <a:t>"missing_data": "fail on missing, nonfinite or duplicate records; no deletion/imputation"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"efficacy_limitations": [</a:t>
            </a:r>
          </a:p>
          <a:p>
            <a:pPr/>
            <a:r>
              <a:rPr lang="en-US" dirty="0"/>
              <a:t>"Independence is a declared synthetic design assumption, not a normality-test conclusion.",</a:t>
            </a:r>
          </a:p>
          <a:p>
            <a:pPr/>
            <a:r>
              <a:rPr lang="en-US" dirty="0"/>
              <a:t>"Shapiro p-values are descriptive; non-rejection does not prove normality.",</a:t>
            </a:r>
          </a:p>
          <a:p>
            <a:pPr/>
            <a:r>
              <a:rPr lang="en-US" dirty="0"/>
              <a:t>"Endpoint reduction is not longitudinal tumor-growth inhibition (TGI).",</a:t>
            </a:r>
          </a:p>
          <a:p>
            <a:pPr/>
            <a:r>
              <a:rPr lang="en-US" dirty="0"/>
              <a:t>"Body weight is descriptive tolerability context, not a toxicology/NOAEL assessment.",</a:t>
            </a:r>
          </a:p>
          <a:p>
            <a:pPr/>
            <a:r>
              <a:rPr lang="en-US" dirty="0"/>
              <a:t>"Significance in invented data supplies no evidence about a real compound or disease."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"pk_conventions": {</a:t>
            </a:r>
          </a:p>
          <a:p>
            <a:pPr/>
            <a:r>
              <a:rPr lang="en-US" dirty="0"/>
              <a:t>"time_unit": "h",</a:t>
            </a:r>
          </a:p>
          <a:p>
            <a:pPr/>
            <a:r>
              <a:rPr lang="en-US" dirty="0"/>
              <a:t>"concentration_unit": "mg/L",</a:t>
            </a:r>
          </a:p>
          <a:p>
            <a:pPr/>
            <a:r>
              <a:rPr lang="en-US" dirty="0"/>
              <a:t>"dose_unit": "mg",</a:t>
            </a:r>
          </a:p>
          <a:p>
            <a:pPr/>
            <a:r>
              <a:rPr lang="en-US" dirty="0"/>
              <a:t>"dose_mg": 0.125,</a:t>
            </a:r>
          </a:p>
          <a:p>
            <a:pPr/>
            <a:r>
              <a:rPr lang="en-US" dirty="0"/>
              <a:t>"auc_method": "linear-up/log-down",</a:t>
            </a:r>
          </a:p>
          <a:p>
            <a:pPr/>
            <a:r>
              <a:rPr lang="en-US" dirty="0"/>
              <a:t>"terminal_window_h": [</a:t>
            </a:r>
          </a:p>
          <a:p>
            <a:pPr/>
            <a:r>
              <a:rPr lang="zh-CN" dirty="0"/>
              <a:t>8,</a:t>
            </a:r>
          </a:p>
          <a:p>
            <a:pPr/>
            <a:r>
              <a:rPr lang="zh-CN" dirty="0"/>
              <a:t>24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"blq": "none in fixture; numeric completeness enforced"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"pk_limitations": [</a:t>
            </a:r>
          </a:p>
          <a:p>
            <a:pPr/>
            <a:r>
              <a:rPr lang="en-US" dirty="0"/>
              <a:t>"Separate synthetic PK cohort: no animal-level exposure-response link to the efficacy cohort.",</a:t>
            </a:r>
          </a:p>
          <a:p>
            <a:pPr/>
            <a:r>
              <a:rPr lang="en-US" dirty="0"/>
              <a:t>"Oral clearance and volume are apparent CL/F and V/F; F is not identified.",</a:t>
            </a:r>
          </a:p>
          <a:p>
            <a:pPr/>
            <a:r>
              <a:rPr lang="en-US" dirty="0"/>
              <a:t>"A perfect synthetic terminal fit does not validate a real PK model or sampling design.",</a:t>
            </a:r>
          </a:p>
          <a:p>
            <a:pPr/>
            <a:r>
              <a:rPr lang="en-US" dirty="0"/>
              <a:t>"Dose is illustrative arithmetic; no clinical dose or species safety inference."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"pk_findings": [],</a:t>
            </a:r>
          </a:p>
          <a:p>
            <a:pPr/>
            <a:r>
              <a:rPr lang="en-US" dirty="0"/>
              <a:t>"citation": "K-Dense Scientific Agent Skills; https://doi.org/10.48550/arXiv.2609.00065; see vendored CITATION.cff"</a:t>
            </a:r>
          </a:p>
          <a:p>
            <a:pPr/>
            <a:r>
              <a:rPr lang="zh-CN" dirty="0"/>
              <a:t>}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合成数据演示</a:t>
            </a:r>
          </a:p>
          <a:p>
            <a:pPr/>
            <a:endParaRPr lang="zh-CN" dirty="0"/>
          </a:p>
          <a:p>
            <a:pPr/>
            <a:r>
              <a:rPr lang="zh-CN" dirty="0"/>
              <a:t>{</a:t>
            </a:r>
          </a:p>
          <a:p>
            <a:pPr/>
            <a:r>
              <a:rPr lang="en-US" dirty="0"/>
              <a:t>"data_kind": "synthetic-preclinical-demo",</a:t>
            </a:r>
          </a:p>
          <a:p>
            <a:pPr/>
            <a:r>
              <a:rPr lang="en-US" dirty="0"/>
              <a:t>"analysis_sha256": "c5fc6732386bd79be3febebecc2afa290bc3e69db62e64d092f728e25f857035",</a:t>
            </a:r>
          </a:p>
          <a:p>
            <a:pPr/>
            <a:r>
              <a:rPr lang="en-US" dirty="0"/>
              <a:t>"source_sha256": {</a:t>
            </a:r>
          </a:p>
          <a:p>
            <a:pPr/>
            <a:r>
              <a:rPr lang="en-US" dirty="0"/>
              <a:t>"efficacy": {</a:t>
            </a:r>
          </a:p>
          <a:p>
            <a:pPr/>
            <a:r>
              <a:rPr lang="en-US" dirty="0"/>
              <a:t>"filename": "efficacy.csv",</a:t>
            </a:r>
          </a:p>
          <a:p>
            <a:pPr/>
            <a:r>
              <a:rPr lang="en-US" dirty="0"/>
              <a:t>"sha256": "e7cd19c3f1e893b1ac0654161b7d593374c386fd1db25fcbdfa7e9ae376ef99b"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"pk": {</a:t>
            </a:r>
          </a:p>
          <a:p>
            <a:pPr/>
            <a:r>
              <a:rPr lang="en-US" dirty="0"/>
              <a:t>"filename": "pk.csv",</a:t>
            </a:r>
          </a:p>
          <a:p>
            <a:pPr/>
            <a:r>
              <a:rPr lang="en-US" dirty="0"/>
              <a:t>"sha256": "35890c2a604ff2650a5e48db5a3d8819a19d3b20db6a8ef84a1219ffed3358fd"</a:t>
            </a:r>
          </a:p>
          <a:p>
            <a:pPr/>
            <a:r>
              <a:rPr lang="zh-CN" dirty="0"/>
              <a:t>}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"analysis_plan": {</a:t>
            </a:r>
          </a:p>
          <a:p>
            <a:pPr/>
            <a:r>
              <a:rPr lang="en-US" dirty="0"/>
              <a:t>"primary_endpoint": "synthetic terminal tumor_volume_mm3",</a:t>
            </a:r>
          </a:p>
          <a:p>
            <a:pPr/>
            <a:r>
              <a:rPr lang="en-US" dirty="0"/>
              <a:t>"contrasts": [</a:t>
            </a:r>
          </a:p>
          <a:p>
            <a:pPr/>
            <a:r>
              <a:rPr lang="en-US" dirty="0"/>
              <a:t>"low-vehicle",</a:t>
            </a:r>
          </a:p>
          <a:p>
            <a:pPr/>
            <a:r>
              <a:rPr lang="en-US" dirty="0"/>
              <a:t>"high-vehicle"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"test": "two-sided independent Welch t-test, prespecified",</a:t>
            </a:r>
          </a:p>
          <a:p>
            <a:pPr/>
            <a:r>
              <a:rPr lang="en-US" dirty="0"/>
              <a:t>"multiplicity": "Holm family-wise correction for the 2 prespecified contrasts",</a:t>
            </a:r>
          </a:p>
          <a:p>
            <a:pPr/>
            <a:r>
              <a:rPr lang="en-US" dirty="0"/>
              <a:t>"ci": "95% pointwise mean-difference intervals; not simultaneous family intervals",</a:t>
            </a:r>
          </a:p>
          <a:p>
            <a:pPr/>
            <a:r>
              <a:rPr lang="en-US" dirty="0"/>
              <a:t>"missing_data": "fail on missing, nonfinite or duplicate records; no deletion/imputation"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"efficacy_limitations": [</a:t>
            </a:r>
          </a:p>
          <a:p>
            <a:pPr/>
            <a:r>
              <a:rPr lang="en-US" dirty="0"/>
              <a:t>"Independence is a declared synthetic design assumption, not a normality-test conclusion.",</a:t>
            </a:r>
          </a:p>
          <a:p>
            <a:pPr/>
            <a:r>
              <a:rPr lang="en-US" dirty="0"/>
              <a:t>"Shapiro p-values are descriptive; non-rejection does not prove normality.",</a:t>
            </a:r>
          </a:p>
          <a:p>
            <a:pPr/>
            <a:r>
              <a:rPr lang="en-US" dirty="0"/>
              <a:t>"Endpoint reduction is not longitudinal tumor-growth inhibition (TGI).",</a:t>
            </a:r>
          </a:p>
          <a:p>
            <a:pPr/>
            <a:r>
              <a:rPr lang="en-US" dirty="0"/>
              <a:t>"Body weight is descriptive tolerability context, not a toxicology/NOAEL assessment.",</a:t>
            </a:r>
          </a:p>
          <a:p>
            <a:pPr/>
            <a:r>
              <a:rPr lang="en-US" dirty="0"/>
              <a:t>"Significance in invented data supplies no evidence about a real compound or disease."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"pk_conventions": {</a:t>
            </a:r>
          </a:p>
          <a:p>
            <a:pPr/>
            <a:r>
              <a:rPr lang="en-US" dirty="0"/>
              <a:t>"time_unit": "h",</a:t>
            </a:r>
          </a:p>
          <a:p>
            <a:pPr/>
            <a:r>
              <a:rPr lang="en-US" dirty="0"/>
              <a:t>"concentration_unit": "mg/L",</a:t>
            </a:r>
          </a:p>
          <a:p>
            <a:pPr/>
            <a:r>
              <a:rPr lang="en-US" dirty="0"/>
              <a:t>"dose_unit": "mg",</a:t>
            </a:r>
          </a:p>
          <a:p>
            <a:pPr/>
            <a:r>
              <a:rPr lang="en-US" dirty="0"/>
              <a:t>"dose_mg": 0.125,</a:t>
            </a:r>
          </a:p>
          <a:p>
            <a:pPr/>
            <a:r>
              <a:rPr lang="en-US" dirty="0"/>
              <a:t>"auc_method": "linear-up/log-down",</a:t>
            </a:r>
          </a:p>
          <a:p>
            <a:pPr/>
            <a:r>
              <a:rPr lang="en-US" dirty="0"/>
              <a:t>"terminal_window_h": [</a:t>
            </a:r>
          </a:p>
          <a:p>
            <a:pPr/>
            <a:r>
              <a:rPr lang="zh-CN" dirty="0"/>
              <a:t>8,</a:t>
            </a:r>
          </a:p>
          <a:p>
            <a:pPr/>
            <a:r>
              <a:rPr lang="zh-CN" dirty="0"/>
              <a:t>24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"blq": "none in fixture; numeric completeness enforced"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"pk_limitations": [</a:t>
            </a:r>
          </a:p>
          <a:p>
            <a:pPr/>
            <a:r>
              <a:rPr lang="en-US" dirty="0"/>
              <a:t>"Separate synthetic PK cohort: no animal-level exposure-response link to the efficacy cohort.",</a:t>
            </a:r>
          </a:p>
          <a:p>
            <a:pPr/>
            <a:r>
              <a:rPr lang="en-US" dirty="0"/>
              <a:t>"Oral clearance and volume are apparent CL/F and V/F; F is not identified.",</a:t>
            </a:r>
          </a:p>
          <a:p>
            <a:pPr/>
            <a:r>
              <a:rPr lang="en-US" dirty="0"/>
              <a:t>"A perfect synthetic terminal fit does not validate a real PK model or sampling design.",</a:t>
            </a:r>
          </a:p>
          <a:p>
            <a:pPr/>
            <a:r>
              <a:rPr lang="en-US" dirty="0"/>
              <a:t>"Dose is illustrative arithmetic; no clinical dose or species safety inference."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"pk_findings": [],</a:t>
            </a:r>
          </a:p>
          <a:p>
            <a:pPr/>
            <a:r>
              <a:rPr lang="en-US" dirty="0"/>
              <a:t>"citation": "K-Dense Scientific Agent Skills; https://doi.org/10.48550/arXiv.2609.00065; see vendored CITATION.cff"</a:t>
            </a:r>
          </a:p>
          <a:p>
            <a:pPr/>
            <a:r>
              <a:rPr lang="zh-CN" dirty="0"/>
              <a:t>}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合成数据演示</a:t>
            </a:r>
          </a:p>
          <a:p>
            <a:pPr/>
            <a:endParaRPr lang="zh-CN" dirty="0"/>
          </a:p>
          <a:p>
            <a:pPr/>
            <a:r>
              <a:rPr lang="zh-CN" dirty="0"/>
              <a:t>{</a:t>
            </a:r>
          </a:p>
          <a:p>
            <a:pPr/>
            <a:r>
              <a:rPr lang="en-US" dirty="0"/>
              <a:t>"data_kind": "synthetic-preclinical-demo",</a:t>
            </a:r>
          </a:p>
          <a:p>
            <a:pPr/>
            <a:r>
              <a:rPr lang="en-US" dirty="0"/>
              <a:t>"analysis_sha256": "c5fc6732386bd79be3febebecc2afa290bc3e69db62e64d092f728e25f857035",</a:t>
            </a:r>
          </a:p>
          <a:p>
            <a:pPr/>
            <a:r>
              <a:rPr lang="en-US" dirty="0"/>
              <a:t>"source_sha256": {</a:t>
            </a:r>
          </a:p>
          <a:p>
            <a:pPr/>
            <a:r>
              <a:rPr lang="en-US" dirty="0"/>
              <a:t>"efficacy": {</a:t>
            </a:r>
          </a:p>
          <a:p>
            <a:pPr/>
            <a:r>
              <a:rPr lang="en-US" dirty="0"/>
              <a:t>"filename": "efficacy.csv",</a:t>
            </a:r>
          </a:p>
          <a:p>
            <a:pPr/>
            <a:r>
              <a:rPr lang="en-US" dirty="0"/>
              <a:t>"sha256": "e7cd19c3f1e893b1ac0654161b7d593374c386fd1db25fcbdfa7e9ae376ef99b"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"pk": {</a:t>
            </a:r>
          </a:p>
          <a:p>
            <a:pPr/>
            <a:r>
              <a:rPr lang="en-US" dirty="0"/>
              <a:t>"filename": "pk.csv",</a:t>
            </a:r>
          </a:p>
          <a:p>
            <a:pPr/>
            <a:r>
              <a:rPr lang="en-US" dirty="0"/>
              <a:t>"sha256": "35890c2a604ff2650a5e48db5a3d8819a19d3b20db6a8ef84a1219ffed3358fd"</a:t>
            </a:r>
          </a:p>
          <a:p>
            <a:pPr/>
            <a:r>
              <a:rPr lang="zh-CN" dirty="0"/>
              <a:t>}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"analysis_plan": {</a:t>
            </a:r>
          </a:p>
          <a:p>
            <a:pPr/>
            <a:r>
              <a:rPr lang="en-US" dirty="0"/>
              <a:t>"primary_endpoint": "synthetic terminal tumor_volume_mm3",</a:t>
            </a:r>
          </a:p>
          <a:p>
            <a:pPr/>
            <a:r>
              <a:rPr lang="en-US" dirty="0"/>
              <a:t>"contrasts": [</a:t>
            </a:r>
          </a:p>
          <a:p>
            <a:pPr/>
            <a:r>
              <a:rPr lang="en-US" dirty="0"/>
              <a:t>"low-vehicle",</a:t>
            </a:r>
          </a:p>
          <a:p>
            <a:pPr/>
            <a:r>
              <a:rPr lang="en-US" dirty="0"/>
              <a:t>"high-vehicle"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"test": "two-sided independent Welch t-test, prespecified",</a:t>
            </a:r>
          </a:p>
          <a:p>
            <a:pPr/>
            <a:r>
              <a:rPr lang="en-US" dirty="0"/>
              <a:t>"multiplicity": "Holm family-wise correction for the 2 prespecified contrasts",</a:t>
            </a:r>
          </a:p>
          <a:p>
            <a:pPr/>
            <a:r>
              <a:rPr lang="en-US" dirty="0"/>
              <a:t>"ci": "95% pointwise mean-difference intervals; not simultaneous family intervals",</a:t>
            </a:r>
          </a:p>
          <a:p>
            <a:pPr/>
            <a:r>
              <a:rPr lang="en-US" dirty="0"/>
              <a:t>"missing_data": "fail on missing, nonfinite or duplicate records; no deletion/imputation"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"efficacy_limitations": [</a:t>
            </a:r>
          </a:p>
          <a:p>
            <a:pPr/>
            <a:r>
              <a:rPr lang="en-US" dirty="0"/>
              <a:t>"Independence is a declared synthetic design assumption, not a normality-test conclusion.",</a:t>
            </a:r>
          </a:p>
          <a:p>
            <a:pPr/>
            <a:r>
              <a:rPr lang="en-US" dirty="0"/>
              <a:t>"Shapiro p-values are descriptive; non-rejection does not prove normality.",</a:t>
            </a:r>
          </a:p>
          <a:p>
            <a:pPr/>
            <a:r>
              <a:rPr lang="en-US" dirty="0"/>
              <a:t>"Endpoint reduction is not longitudinal tumor-growth inhibition (TGI).",</a:t>
            </a:r>
          </a:p>
          <a:p>
            <a:pPr/>
            <a:r>
              <a:rPr lang="en-US" dirty="0"/>
              <a:t>"Body weight is descriptive tolerability context, not a toxicology/NOAEL assessment.",</a:t>
            </a:r>
          </a:p>
          <a:p>
            <a:pPr/>
            <a:r>
              <a:rPr lang="en-US" dirty="0"/>
              <a:t>"Significance in invented data supplies no evidence about a real compound or disease."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"pk_conventions": {</a:t>
            </a:r>
          </a:p>
          <a:p>
            <a:pPr/>
            <a:r>
              <a:rPr lang="en-US" dirty="0"/>
              <a:t>"time_unit": "h",</a:t>
            </a:r>
          </a:p>
          <a:p>
            <a:pPr/>
            <a:r>
              <a:rPr lang="en-US" dirty="0"/>
              <a:t>"concentration_unit": "mg/L",</a:t>
            </a:r>
          </a:p>
          <a:p>
            <a:pPr/>
            <a:r>
              <a:rPr lang="en-US" dirty="0"/>
              <a:t>"dose_unit": "mg",</a:t>
            </a:r>
          </a:p>
          <a:p>
            <a:pPr/>
            <a:r>
              <a:rPr lang="en-US" dirty="0"/>
              <a:t>"dose_mg": 0.125,</a:t>
            </a:r>
          </a:p>
          <a:p>
            <a:pPr/>
            <a:r>
              <a:rPr lang="en-US" dirty="0"/>
              <a:t>"auc_method": "linear-up/log-down",</a:t>
            </a:r>
          </a:p>
          <a:p>
            <a:pPr/>
            <a:r>
              <a:rPr lang="en-US" dirty="0"/>
              <a:t>"terminal_window_h": [</a:t>
            </a:r>
          </a:p>
          <a:p>
            <a:pPr/>
            <a:r>
              <a:rPr lang="zh-CN" dirty="0"/>
              <a:t>8,</a:t>
            </a:r>
          </a:p>
          <a:p>
            <a:pPr/>
            <a:r>
              <a:rPr lang="zh-CN" dirty="0"/>
              <a:t>24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"blq": "none in fixture; numeric completeness enforced"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"pk_limitations": [</a:t>
            </a:r>
          </a:p>
          <a:p>
            <a:pPr/>
            <a:r>
              <a:rPr lang="en-US" dirty="0"/>
              <a:t>"Separate synthetic PK cohort: no animal-level exposure-response link to the efficacy cohort.",</a:t>
            </a:r>
          </a:p>
          <a:p>
            <a:pPr/>
            <a:r>
              <a:rPr lang="en-US" dirty="0"/>
              <a:t>"Oral clearance and volume are apparent CL/F and V/F; F is not identified.",</a:t>
            </a:r>
          </a:p>
          <a:p>
            <a:pPr/>
            <a:r>
              <a:rPr lang="en-US" dirty="0"/>
              <a:t>"A perfect synthetic terminal fit does not validate a real PK model or sampling design.",</a:t>
            </a:r>
          </a:p>
          <a:p>
            <a:pPr/>
            <a:r>
              <a:rPr lang="en-US" dirty="0"/>
              <a:t>"Dose is illustrative arithmetic; no clinical dose or species safety inference."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"pk_findings": [],</a:t>
            </a:r>
          </a:p>
          <a:p>
            <a:pPr/>
            <a:r>
              <a:rPr lang="en-US" dirty="0"/>
              <a:t>"citation": "K-Dense Scientific Agent Skills; https://doi.org/10.48550/arXiv.2609.00065; see vendored CITATION.cff"</a:t>
            </a:r>
          </a:p>
          <a:p>
            <a:pPr/>
            <a:r>
              <a:rPr lang="zh-CN" dirty="0"/>
              <a:t>}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合成数据演示</a:t>
            </a:r>
          </a:p>
          <a:p>
            <a:pPr/>
            <a:endParaRPr lang="zh-CN" dirty="0"/>
          </a:p>
          <a:p>
            <a:pPr/>
            <a:r>
              <a:rPr lang="zh-CN" dirty="0"/>
              <a:t>{</a:t>
            </a:r>
          </a:p>
          <a:p>
            <a:pPr/>
            <a:r>
              <a:rPr lang="en-US" dirty="0"/>
              <a:t>"data_kind": "synthetic-preclinical-demo",</a:t>
            </a:r>
          </a:p>
          <a:p>
            <a:pPr/>
            <a:r>
              <a:rPr lang="en-US" dirty="0"/>
              <a:t>"analysis_sha256": "c5fc6732386bd79be3febebecc2afa290bc3e69db62e64d092f728e25f857035",</a:t>
            </a:r>
          </a:p>
          <a:p>
            <a:pPr/>
            <a:r>
              <a:rPr lang="en-US" dirty="0"/>
              <a:t>"source_sha256": {</a:t>
            </a:r>
          </a:p>
          <a:p>
            <a:pPr/>
            <a:r>
              <a:rPr lang="en-US" dirty="0"/>
              <a:t>"efficacy": {</a:t>
            </a:r>
          </a:p>
          <a:p>
            <a:pPr/>
            <a:r>
              <a:rPr lang="en-US" dirty="0"/>
              <a:t>"filename": "efficacy.csv",</a:t>
            </a:r>
          </a:p>
          <a:p>
            <a:pPr/>
            <a:r>
              <a:rPr lang="en-US" dirty="0"/>
              <a:t>"sha256": "e7cd19c3f1e893b1ac0654161b7d593374c386fd1db25fcbdfa7e9ae376ef99b"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"pk": {</a:t>
            </a:r>
          </a:p>
          <a:p>
            <a:pPr/>
            <a:r>
              <a:rPr lang="en-US" dirty="0"/>
              <a:t>"filename": "pk.csv",</a:t>
            </a:r>
          </a:p>
          <a:p>
            <a:pPr/>
            <a:r>
              <a:rPr lang="en-US" dirty="0"/>
              <a:t>"sha256": "35890c2a604ff2650a5e48db5a3d8819a19d3b20db6a8ef84a1219ffed3358fd"</a:t>
            </a:r>
          </a:p>
          <a:p>
            <a:pPr/>
            <a:r>
              <a:rPr lang="zh-CN" dirty="0"/>
              <a:t>}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"analysis_plan": {</a:t>
            </a:r>
          </a:p>
          <a:p>
            <a:pPr/>
            <a:r>
              <a:rPr lang="en-US" dirty="0"/>
              <a:t>"primary_endpoint": "synthetic terminal tumor_volume_mm3",</a:t>
            </a:r>
          </a:p>
          <a:p>
            <a:pPr/>
            <a:r>
              <a:rPr lang="en-US" dirty="0"/>
              <a:t>"contrasts": [</a:t>
            </a:r>
          </a:p>
          <a:p>
            <a:pPr/>
            <a:r>
              <a:rPr lang="en-US" dirty="0"/>
              <a:t>"low-vehicle",</a:t>
            </a:r>
          </a:p>
          <a:p>
            <a:pPr/>
            <a:r>
              <a:rPr lang="en-US" dirty="0"/>
              <a:t>"high-vehicle"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"test": "two-sided independent Welch t-test, prespecified",</a:t>
            </a:r>
          </a:p>
          <a:p>
            <a:pPr/>
            <a:r>
              <a:rPr lang="en-US" dirty="0"/>
              <a:t>"multiplicity": "Holm family-wise correction for the 2 prespecified contrasts",</a:t>
            </a:r>
          </a:p>
          <a:p>
            <a:pPr/>
            <a:r>
              <a:rPr lang="en-US" dirty="0"/>
              <a:t>"ci": "95% pointwise mean-difference intervals; not simultaneous family intervals",</a:t>
            </a:r>
          </a:p>
          <a:p>
            <a:pPr/>
            <a:r>
              <a:rPr lang="en-US" dirty="0"/>
              <a:t>"missing_data": "fail on missing, nonfinite or duplicate records; no deletion/imputation"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"efficacy_limitations": [</a:t>
            </a:r>
          </a:p>
          <a:p>
            <a:pPr/>
            <a:r>
              <a:rPr lang="en-US" dirty="0"/>
              <a:t>"Independence is a declared synthetic design assumption, not a normality-test conclusion.",</a:t>
            </a:r>
          </a:p>
          <a:p>
            <a:pPr/>
            <a:r>
              <a:rPr lang="en-US" dirty="0"/>
              <a:t>"Shapiro p-values are descriptive; non-rejection does not prove normality.",</a:t>
            </a:r>
          </a:p>
          <a:p>
            <a:pPr/>
            <a:r>
              <a:rPr lang="en-US" dirty="0"/>
              <a:t>"Endpoint reduction is not longitudinal tumor-growth inhibition (TGI).",</a:t>
            </a:r>
          </a:p>
          <a:p>
            <a:pPr/>
            <a:r>
              <a:rPr lang="en-US" dirty="0"/>
              <a:t>"Body weight is descriptive tolerability context, not a toxicology/NOAEL assessment.",</a:t>
            </a:r>
          </a:p>
          <a:p>
            <a:pPr/>
            <a:r>
              <a:rPr lang="en-US" dirty="0"/>
              <a:t>"Significance in invented data supplies no evidence about a real compound or disease."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"pk_conventions": {</a:t>
            </a:r>
          </a:p>
          <a:p>
            <a:pPr/>
            <a:r>
              <a:rPr lang="en-US" dirty="0"/>
              <a:t>"time_unit": "h",</a:t>
            </a:r>
          </a:p>
          <a:p>
            <a:pPr/>
            <a:r>
              <a:rPr lang="en-US" dirty="0"/>
              <a:t>"concentration_unit": "mg/L",</a:t>
            </a:r>
          </a:p>
          <a:p>
            <a:pPr/>
            <a:r>
              <a:rPr lang="en-US" dirty="0"/>
              <a:t>"dose_unit": "mg",</a:t>
            </a:r>
          </a:p>
          <a:p>
            <a:pPr/>
            <a:r>
              <a:rPr lang="en-US" dirty="0"/>
              <a:t>"dose_mg": 0.125,</a:t>
            </a:r>
          </a:p>
          <a:p>
            <a:pPr/>
            <a:r>
              <a:rPr lang="en-US" dirty="0"/>
              <a:t>"auc_method": "linear-up/log-down",</a:t>
            </a:r>
          </a:p>
          <a:p>
            <a:pPr/>
            <a:r>
              <a:rPr lang="en-US" dirty="0"/>
              <a:t>"terminal_window_h": [</a:t>
            </a:r>
          </a:p>
          <a:p>
            <a:pPr/>
            <a:r>
              <a:rPr lang="zh-CN" dirty="0"/>
              <a:t>8,</a:t>
            </a:r>
          </a:p>
          <a:p>
            <a:pPr/>
            <a:r>
              <a:rPr lang="zh-CN" dirty="0"/>
              <a:t>24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"blq": "none in fixture; numeric completeness enforced"</a:t>
            </a:r>
          </a:p>
          <a:p>
            <a:pPr/>
            <a:r>
              <a:rPr lang="zh-CN" dirty="0"/>
              <a:t>},</a:t>
            </a:r>
          </a:p>
          <a:p>
            <a:pPr/>
            <a:r>
              <a:rPr lang="en-US" dirty="0"/>
              <a:t>"pk_limitations": [</a:t>
            </a:r>
          </a:p>
          <a:p>
            <a:pPr/>
            <a:r>
              <a:rPr lang="en-US" dirty="0"/>
              <a:t>"Separate synthetic PK cohort: no animal-level exposure-response link to the efficacy cohort.",</a:t>
            </a:r>
          </a:p>
          <a:p>
            <a:pPr/>
            <a:r>
              <a:rPr lang="en-US" dirty="0"/>
              <a:t>"Oral clearance and volume are apparent CL/F and V/F; F is not identified.",</a:t>
            </a:r>
          </a:p>
          <a:p>
            <a:pPr/>
            <a:r>
              <a:rPr lang="en-US" dirty="0"/>
              <a:t>"A perfect synthetic terminal fit does not validate a real PK model or sampling design.",</a:t>
            </a:r>
          </a:p>
          <a:p>
            <a:pPr/>
            <a:r>
              <a:rPr lang="en-US" dirty="0"/>
              <a:t>"Dose is illustrative arithmetic; no clinical dose or species safety inference."</a:t>
            </a:r>
          </a:p>
          <a:p>
            <a:pPr/>
            <a:r>
              <a:rPr lang="zh-CN" dirty="0"/>
              <a:t>],</a:t>
            </a:r>
          </a:p>
          <a:p>
            <a:pPr/>
            <a:r>
              <a:rPr lang="en-US" dirty="0"/>
              <a:t>"pk_findings": [],</a:t>
            </a:r>
          </a:p>
          <a:p>
            <a:pPr/>
            <a:r>
              <a:rPr lang="en-US" dirty="0"/>
              <a:t>"citation": "K-Dense Scientific Agent Skills; https://doi.org/10.48550/arXiv.2609.00065; see vendored CITATION.cff"</a:t>
            </a:r>
          </a:p>
          <a:p>
            <a:pPr/>
            <a:r>
              <a:rPr lang="zh-CN" dirty="0"/>
              <a:t>}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esenta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esenta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chart" Target="../charts/chart201.xml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2836" y="412750"/>
            <a:ext cx="3143250" cy="645414"/>
            <a:chOff x="592836" y="412750"/>
            <a:chExt cx="314325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12750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临床前分析演示</a:t>
              </a:r>
            </a:p>
          </p:txBody>
        </p:sp>
      </p:grpSp>
      <p:grpSp>
        <p:nvGrpSpPr>
          <p:cNvPr id="8" name="page-body"/>
          <p:cNvGrpSpPr/>
          <p:nvPr/>
        </p:nvGrpSpPr>
        <p:grpSpPr>
          <a:xfrm>
            <a:off x="595122" y="1943100"/>
            <a:ext cx="5727192" cy="2957068"/>
            <a:chOff x="595122" y="1943100"/>
            <a:chExt cx="5727192" cy="2957068"/>
          </a:xfrm>
        </p:grpSpPr>
        <p:sp>
          <p:nvSpPr>
            <p:cNvPr id="4" name="TextBox 4"/>
            <p:cNvSpPr txBox="1"/>
            <p:nvPr/>
          </p:nvSpPr>
          <p:spPr>
            <a:xfrm>
              <a:off x="595122" y="1943100"/>
              <a:ext cx="57057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合成终点数据与独立模拟 PK 队列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170" y="2882900"/>
              <a:ext cx="55850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24 个虚拟终点观测，3 个虚拟 PK profile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3841750"/>
              <a:ext cx="57233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输入分析 JSON 保留原始数据摘要与统计约定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448945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所有数字从输入文件读取，可从同一输入重建</a:t>
              </a:r>
            </a:p>
          </p:txBody>
        </p:sp>
      </p:grpSp>
      <p:grpSp>
        <p:nvGrpSpPr>
          <p:cNvPr id="10" name="page-disclosure"/>
          <p:cNvGrpSpPr/>
          <p:nvPr/>
        </p:nvGrpSpPr>
        <p:grpSpPr>
          <a:xfrm>
            <a:off x="601218" y="6216650"/>
            <a:ext cx="5158911" cy="322707"/>
            <a:chOff x="601218" y="6216650"/>
            <a:chExt cx="515891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6216650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合成数据演示 · 不构成真实药效、安全性或临床证据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2836" y="412750"/>
            <a:ext cx="5432228" cy="645414"/>
            <a:chOff x="592836" y="412750"/>
            <a:chExt cx="5432228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12750"/>
              <a:ext cx="54322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模拟终点体积均值（mm³）</a:t>
              </a:r>
            </a:p>
          </p:txBody>
        </p:sp>
      </p:grpSp>
      <p:grpSp>
        <p:nvGrpSpPr>
          <p:cNvPr id="6" name="page-body"/>
          <p:cNvGrpSpPr/>
          <p:nvPr/>
        </p:nvGrpSpPr>
        <p:grpSpPr>
          <a:xfrm>
            <a:off x="599694" y="1581150"/>
            <a:ext cx="10982706" cy="4407281"/>
            <a:chOff x="599694" y="1581150"/>
            <a:chExt cx="10982706" cy="4407281"/>
          </a:xfrm>
        </p:grpSpPr>
        <p:graphicFrame>
          <p:nvGraphicFramePr>
            <p:cNvPr id="4" name="endpoint-means"/>
            <p:cNvGraphicFramePr>
              <a:graphicFrameLocks noGrp="1"/>
            </p:cNvGraphicFramePr>
            <p:nvPr/>
          </p:nvGraphicFramePr>
          <p:xfrm>
            <a:off x="609600" y="1581150"/>
            <a:ext cx="10972800" cy="38100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5" name="TextBox 5"/>
            <p:cNvSpPr txBox="1"/>
            <p:nvPr/>
          </p:nvSpPr>
          <p:spPr>
            <a:xfrm>
              <a:off x="599694" y="5607050"/>
              <a:ext cx="81674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对照 n=8, SD=32.40 低剂量 n=8, SD=29.76 高剂量 n=8, SD=26.69</a:t>
              </a:r>
            </a:p>
          </p:txBody>
        </p:sp>
      </p:grpSp>
      <p:grpSp>
        <p:nvGrpSpPr>
          <p:cNvPr id="8" name="page-disclosure"/>
          <p:cNvGrpSpPr/>
          <p:nvPr/>
        </p:nvGrpSpPr>
        <p:grpSpPr>
          <a:xfrm>
            <a:off x="601218" y="6216650"/>
            <a:ext cx="5158911" cy="322707"/>
            <a:chOff x="601218" y="6216650"/>
            <a:chExt cx="5158911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6216650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合成数据演示 · 不构成真实药效、安全性或临床证据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2836" y="412750"/>
            <a:ext cx="4031742" cy="645414"/>
            <a:chOff x="592836" y="412750"/>
            <a:chExt cx="4031742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12750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预设比较与多重校正</a:t>
              </a:r>
            </a:p>
          </p:txBody>
        </p:sp>
      </p:grpSp>
      <p:grpSp>
        <p:nvGrpSpPr>
          <p:cNvPr id="8" name="page-body"/>
          <p:cNvGrpSpPr/>
          <p:nvPr/>
        </p:nvGrpSpPr>
        <p:grpSpPr>
          <a:xfrm>
            <a:off x="598932" y="1657350"/>
            <a:ext cx="10983468" cy="4042918"/>
            <a:chOff x="598932" y="1657350"/>
            <a:chExt cx="10983468" cy="4042918"/>
          </a:xfrm>
        </p:grpSpPr>
        <p:graphicFrame>
          <p:nvGraphicFramePr>
            <p:cNvPr id="4" name="endpoint-tests"/>
            <p:cNvGraphicFramePr>
              <a:graphicFrameLocks noGrp="1"/>
            </p:cNvGraphicFramePr>
            <p:nvPr/>
          </p:nvGraphicFramePr>
          <p:xfrm>
            <a:off x="609600" y="1657350"/>
            <a:ext cx="10972800" cy="2171700"/>
          </p:xfrm>
          <a:graphic>
            <a:graphicData uri="http://schemas.openxmlformats.org/drawingml/2006/table">
              <a:tbl>
                <a:tblPr firstRow="1" bandRow="0">
                  <a:tableStyleId>{5C22544A-7EE6-4342-B048-85BDC9FD1C3A}</a:tableStyleId>
                </a:tblPr>
                <a:tblGrid>
                  <a:gridCol w="2806995"/>
                  <a:gridCol w="1531089"/>
                  <a:gridCol w="3317358"/>
                  <a:gridCol w="1658679"/>
                  <a:gridCol w="1658679"/>
                </a:tblGrid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zh-CN" sz="195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比较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差值 mm³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95% CI 未校正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95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Holm P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终点降幅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</a:tr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低剂量 vs 对照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-47.50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[-80.89, -14.11]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0.00865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9.36%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</a:tr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高剂量 vs 对照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-193.75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[-225.69, -161.81]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9.69e-09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95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38.18%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</a:tr>
              </a:tbl>
            </a:graphicData>
          </a:graphic>
        </p:graphicFrame>
        <p:sp>
          <p:nvSpPr>
            <p:cNvPr id="5" name="TextBox 5"/>
            <p:cNvSpPr txBox="1"/>
            <p:nvPr/>
          </p:nvSpPr>
          <p:spPr>
            <a:xfrm>
              <a:off x="598932" y="4222750"/>
              <a:ext cx="5583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双侧 Welch t 检验，Holm 校正两个预设比较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4756150"/>
              <a:ext cx="517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 为逐比较区间，未作同时置信区间校正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5289550"/>
              <a:ext cx="47696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终点降幅不是纵向肿瘤生长抑制率 TGI</a:t>
              </a:r>
            </a:p>
          </p:txBody>
        </p:sp>
      </p:grpSp>
      <p:grpSp>
        <p:nvGrpSpPr>
          <p:cNvPr id="10" name="page-disclosure"/>
          <p:cNvGrpSpPr/>
          <p:nvPr/>
        </p:nvGrpSpPr>
        <p:grpSpPr>
          <a:xfrm>
            <a:off x="601218" y="6216650"/>
            <a:ext cx="5158911" cy="322707"/>
            <a:chOff x="601218" y="6216650"/>
            <a:chExt cx="515891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6216650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合成数据演示 · 不构成真实药效、安全性或临床证据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2836" y="412750"/>
            <a:ext cx="4869607" cy="645414"/>
            <a:chOff x="592836" y="412750"/>
            <a:chExt cx="4869607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12750"/>
              <a:ext cx="48696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独立模拟队列的 PK 参数</a:t>
              </a:r>
            </a:p>
          </p:txBody>
        </p:sp>
      </p:grpSp>
      <p:grpSp>
        <p:nvGrpSpPr>
          <p:cNvPr id="7" name="page-body"/>
          <p:cNvGrpSpPr/>
          <p:nvPr/>
        </p:nvGrpSpPr>
        <p:grpSpPr>
          <a:xfrm>
            <a:off x="599694" y="1562100"/>
            <a:ext cx="10982706" cy="4197731"/>
            <a:chOff x="599694" y="1562100"/>
            <a:chExt cx="10982706" cy="4197731"/>
          </a:xfrm>
        </p:grpSpPr>
        <p:graphicFrame>
          <p:nvGraphicFramePr>
            <p:cNvPr id="4" name="pk-parameters"/>
            <p:cNvGraphicFramePr>
              <a:graphicFrameLocks noGrp="1"/>
            </p:cNvGraphicFramePr>
            <p:nvPr/>
          </p:nvGraphicFramePr>
          <p:xfrm>
            <a:off x="609600" y="1562100"/>
            <a:ext cx="10972800" cy="2895600"/>
          </p:xfrm>
          <a:graphic>
            <a:graphicData uri="http://schemas.openxmlformats.org/drawingml/2006/table">
              <a:tbl>
                <a:tblPr firstRow="1" bandRow="0">
                  <a:tableStyleId>{5C22544A-7EE6-4342-B048-85BDC9FD1C3A}</a:tableStyleId>
                </a:tblPr>
                <a:tblGrid>
                  <a:gridCol w="1403498"/>
                  <a:gridCol w="2041451"/>
                  <a:gridCol w="1531089"/>
                  <a:gridCol w="2296632"/>
                  <a:gridCol w="1403498"/>
                  <a:gridCol w="2296632"/>
                </a:tblGrid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en-US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ID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Cmax mg/L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Tmax h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AUC mg·h/L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en-US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t½ h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1">
                            <a:solidFill>
                              <a:srgbClr val="FFFFFF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外推 AUC %</a:t>
                        </a:r>
                      </a:p>
                    </a:txBody>
                    <a:tcPr anchor="ctr" marL="114300" marR="114300" marT="114300" marB="114300">
                      <a:solidFill>
                        <a:schemeClr val="accent1"/>
                      </a:solidFill>
                    </a:tcPr>
                  </a:tc>
                </a:tr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en-US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PK01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0.120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0.791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4.00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1.79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</a:tr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en-US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PK02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0.108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0.712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4.00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1.79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</a:tr>
                <a:tr h="723900">
                  <a:tc>
                    <a:txBody>
                      <a:bodyPr/>
                      <a:lstStyle/>
                      <a:p>
                        <a:pPr/>
                        <a:r>
                          <a:rPr lang="en-US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PK03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0.132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0.870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4.00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  <a:tc>
                    <a:txBody>
                      <a:bodyPr/>
                      <a:lstStyle/>
                      <a:p>
                        <a:pPr/>
                        <a:r>
                          <a:rPr lang="zh-CN" sz="1880" b="0">
                            <a:solidFill>
                              <a:schemeClr val="dk1"/>
                            </a:solidFill>
                            <a:latin typeface="Microsoft YaHei"/>
                            <a:ea typeface="Microsoft YaHei"/>
                            <a:cs typeface="Microsoft YaHei"/>
                          </a:rPr>
                          <a:t>1.79</a:t>
                        </a:r>
                      </a:p>
                    </a:txBody>
                    <a:tcPr anchor="ctr" marL="114300" marR="114300" marT="114300" marB="114300">
                      <a:noFill/>
                    </a:tcPr>
                  </a:tc>
                </a:tr>
              </a:tbl>
            </a:graphicData>
          </a:graphic>
        </p:graphicFrame>
        <p:sp>
          <p:nvSpPr>
            <p:cNvPr id="5" name="TextBox 5"/>
            <p:cNvSpPr txBox="1"/>
            <p:nvPr/>
          </p:nvSpPr>
          <p:spPr>
            <a:xfrm>
              <a:off x="599694" y="4883150"/>
              <a:ext cx="63753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AUC_last: linear-up/log-down；终末窗口 [8, 24] 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5378450"/>
              <a:ext cx="59208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PK 与终点队列分离，不能推断个体暴露与药效关系</a:t>
              </a:r>
            </a:p>
          </p:txBody>
        </p:sp>
      </p:grpSp>
      <p:grpSp>
        <p:nvGrpSpPr>
          <p:cNvPr id="9" name="page-disclosure"/>
          <p:cNvGrpSpPr/>
          <p:nvPr/>
        </p:nvGrpSpPr>
        <p:grpSpPr>
          <a:xfrm>
            <a:off x="601218" y="6216650"/>
            <a:ext cx="5158911" cy="322707"/>
            <a:chOff x="601218" y="6216650"/>
            <a:chExt cx="5158911" cy="322707"/>
          </a:xfrm>
        </p:grpSpPr>
        <p:sp>
          <p:nvSpPr>
            <p:cNvPr id="8" name="TextBox 8"/>
            <p:cNvSpPr txBox="1"/>
            <p:nvPr/>
          </p:nvSpPr>
          <p:spPr>
            <a:xfrm>
              <a:off x="601218" y="6216650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合成数据演示 · 不构成真实药效、安全性或临床证据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2836" y="412750"/>
            <a:ext cx="3587496" cy="645414"/>
            <a:chOff x="592836" y="412750"/>
            <a:chExt cx="3587496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12750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解释范围与下一步</a:t>
              </a:r>
            </a:p>
          </p:txBody>
        </p:sp>
      </p:grpSp>
      <p:grpSp>
        <p:nvGrpSpPr>
          <p:cNvPr id="8" name="page-body"/>
          <p:cNvGrpSpPr/>
          <p:nvPr/>
        </p:nvGrpSpPr>
        <p:grpSpPr>
          <a:xfrm>
            <a:off x="598170" y="1644650"/>
            <a:ext cx="7292340" cy="2840355"/>
            <a:chOff x="598170" y="1644650"/>
            <a:chExt cx="7292340" cy="2840355"/>
          </a:xfrm>
        </p:grpSpPr>
        <p:sp>
          <p:nvSpPr>
            <p:cNvPr id="4" name="TextBox 4"/>
            <p:cNvSpPr txBox="1"/>
            <p:nvPr/>
          </p:nvSpPr>
          <p:spPr>
            <a:xfrm>
              <a:off x="598170" y="1644650"/>
              <a:ext cx="63836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合成数据中的显著性不能证明真实化合物有效。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170" y="2444750"/>
              <a:ext cx="60053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单点体重描述不能代替毒理或 NOAEL 评估。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170" y="3244850"/>
              <a:ext cx="584873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口服 CL/F 与 V/F 不能辨识生物利用度 F。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170" y="4044950"/>
              <a:ext cx="72923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需真实实验设计、原始数据及专业审核才可用于决策。</a:t>
              </a:r>
            </a:p>
          </p:txBody>
        </p:sp>
      </p:grpSp>
      <p:grpSp>
        <p:nvGrpSpPr>
          <p:cNvPr id="10" name="page-disclosure"/>
          <p:cNvGrpSpPr/>
          <p:nvPr/>
        </p:nvGrpSpPr>
        <p:grpSpPr>
          <a:xfrm>
            <a:off x="601218" y="6216650"/>
            <a:ext cx="5158911" cy="322707"/>
            <a:chOff x="601218" y="6216650"/>
            <a:chExt cx="515891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6216650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合成数据演示 · 不构成真实药效、安全性或临床证据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presentation">
      <a:dk1>
        <a:srgbClr val="173C55"/>
      </a:dk1>
      <a:lt1>
        <a:srgbClr val="FFFFFF"/>
      </a:lt1>
      <a:dk2>
        <a:srgbClr val="173C55"/>
      </a:dk2>
      <a:lt2>
        <a:srgbClr val="FFFFFF"/>
      </a:lt2>
      <a:accent1>
        <a:srgbClr val="173C55"/>
      </a:accent1>
      <a:accent2>
        <a:srgbClr val="173C55"/>
      </a:accent2>
      <a:accent3>
        <a:srgbClr val="173C55"/>
      </a:accent3>
      <a:accent4>
        <a:srgbClr val="173C55"/>
      </a:accent4>
      <a:accent5>
        <a:srgbClr val="4BACC6"/>
      </a:accent5>
      <a:accent6>
        <a:srgbClr val="F79646"/>
      </a:accent6>
      <a:hlink>
        <a:srgbClr val="173C55"/>
      </a:hlink>
      <a:folHlink>
        <a:srgbClr val="173C55"/>
      </a:folHlink>
    </a:clrScheme>
    <a:fontScheme name="presentation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esentation">
  <a:themeElements>
    <a:clrScheme name="presentation">
      <a:dk1>
        <a:srgbClr val="173C55"/>
      </a:dk1>
      <a:lt1>
        <a:srgbClr val="FFFFFF"/>
      </a:lt1>
      <a:dk2>
        <a:srgbClr val="173C55"/>
      </a:dk2>
      <a:lt2>
        <a:srgbClr val="FFFFFF"/>
      </a:lt2>
      <a:accent1>
        <a:srgbClr val="173C55"/>
      </a:accent1>
      <a:accent2>
        <a:srgbClr val="173C55"/>
      </a:accent2>
      <a:accent3>
        <a:srgbClr val="173C55"/>
      </a:accent3>
      <a:accent4>
        <a:srgbClr val="173C55"/>
      </a:accent4>
      <a:accent5>
        <a:srgbClr val="4BACC6"/>
      </a:accent5>
      <a:accent6>
        <a:srgbClr val="F79646"/>
      </a:accent6>
      <a:hlink>
        <a:srgbClr val="173C55"/>
      </a:hlink>
      <a:folHlink>
        <a:srgbClr val="173C55"/>
      </a:folHlink>
    </a:clrScheme>
    <a:fontScheme name="presentation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2026-10-08T17:25:55Z</dcterms:created>
  <dcterms:modified xsi:type="dcterms:W3CDTF">2026-10-08T17:25:55Z</dcterms:modified>
  <cp:category/>
  <cp:contentStatus/>
</cp:coreProperties>
</file>